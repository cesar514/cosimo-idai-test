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6" r:id="rId46"/>
    <p:sldId id="292" r:id="rId42"/>
    <p:sldId id="293" r:id="rId43"/>
    <p:sldId id="294" r:id="rId44"/>
    <p:sldId id="295" r:id="rId45"/>
    <p:sldId id="267" r:id="rId13"/>
    <p:sldId id="290" r:id="rId40"/>
    <p:sldId id="291" r:id="rId41"/>
    <p:sldId id="268" r:id="rId14"/>
    <p:sldId id="269" r:id="rId15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7" r:id="rId47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79" d="100"/>
          <a:sy n="79" d="100"/>
        </p:scale>
        <p:origin x="200" y="1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7.xml"/><Relationship Id="rId14" Type="http://schemas.openxmlformats.org/officeDocument/2006/relationships/slide" Target="slides/slide20.xml"/><Relationship Id="rId15" Type="http://schemas.openxmlformats.org/officeDocument/2006/relationships/slide" Target="slides/slide21.xml"/><Relationship Id="rId16" Type="http://schemas.openxmlformats.org/officeDocument/2006/relationships/slide" Target="slides/slide31.xml"/><Relationship Id="rId17" Type="http://schemas.openxmlformats.org/officeDocument/2006/relationships/slide" Target="slides/slide32.xml"/><Relationship Id="rId18" Type="http://schemas.openxmlformats.org/officeDocument/2006/relationships/slide" Target="slides/slide33.xml"/><Relationship Id="rId19" Type="http://schemas.openxmlformats.org/officeDocument/2006/relationships/slide" Target="slides/slide34.xml"/><Relationship Id="rId20" Type="http://schemas.openxmlformats.org/officeDocument/2006/relationships/slide" Target="slides/slide35.xml"/><Relationship Id="rId21" Type="http://schemas.openxmlformats.org/officeDocument/2006/relationships/slide" Target="slides/slide36.xml"/><Relationship Id="rId22" Type="http://schemas.openxmlformats.org/officeDocument/2006/relationships/slide" Target="slides/slide37.xml"/><Relationship Id="rId23" Type="http://schemas.openxmlformats.org/officeDocument/2006/relationships/slide" Target="slides/slide38.xml"/><Relationship Id="rId24" Type="http://schemas.openxmlformats.org/officeDocument/2006/relationships/slide" Target="slides/slide39.xml"/><Relationship Id="rId25" Type="http://schemas.openxmlformats.org/officeDocument/2006/relationships/slide" Target="slides/slide40.xml"/><Relationship Id="rId26" Type="http://schemas.openxmlformats.org/officeDocument/2006/relationships/slide" Target="slides/slide42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2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Multi-agentic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Orchestrating Coding Agents with CLI Tools, skills.md, and MCPs</a:t>
            </a:r>
          </a:p>
          <a:p>
            <a:r>
              <a:rPr sz="2000"/>
              <a:t>Cesar Contreras | Friday 27 February 2026 | Elm House 214 + Teams</a:t>
            </a:r>
          </a:p>
          <a:p>
            <a:r>
              <a:rPr sz="2000"/>
              <a:t>Lunch at 12:00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Details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Date: Friday 27 February 2026 | Time: 11:00 (lunch at 12:00)</a:t>
            </a:r>
          </a:p>
          <a:p>
            <a:r>
              <a:rPr sz="2400"/>
              <a:t>Location: Elm House 214 + Teams</a:t>
            </a:r>
          </a:p>
          <a:p>
            <a:r>
              <a:rPr sz="2400"/>
              <a:t>Lead: Cesar Contreras</a:t>
            </a:r>
          </a:p>
          <a:p>
            <a:r>
              <a:rPr sz="2400"/>
              <a:t>Goal: practical multi-agent workflows for research code</a:t>
            </a:r>
          </a:p>
          <a:p>
            <a:r>
              <a:rPr sz="2400"/>
              <a:t>Outcome: repeatable path from idea to tested proof-of-concept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(60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11:00-11:10: Why agents now + key definitions</a:t>
            </a:r>
          </a:p>
          <a:p>
            <a:r>
              <a:rPr sz="2400"/>
              <a:t>11:10-11:25: Tooling landscape (Codex, Copilot, Jules, Gemini, MCP)</a:t>
            </a:r>
          </a:p>
          <a:p>
            <a:r>
              <a:rPr sz="2400"/>
              <a:t>11:25-11:45: Live repo walkthrough with role-split agents</a:t>
            </a:r>
          </a:p>
          <a:p>
            <a:r>
              <a:rPr sz="2400"/>
              <a:t>11:45-11:55: Debug, testing, research, and writing workflows</a:t>
            </a:r>
          </a:p>
          <a:p>
            <a:r>
              <a:rPr sz="2400"/>
              <a:t>11:55-12:00: Robotics risk/reward, adoption plan,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2026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Coding agents moved from chat help to autonomous PR-style execution</a:t>
            </a:r>
          </a:p>
          <a:p>
            <a:r>
              <a:rPr sz="2400"/>
              <a:t>MCP-style protocols made tool integrations composable</a:t>
            </a:r>
          </a:p>
          <a:p>
            <a:r>
              <a:rPr sz="2400"/>
              <a:t>Larger context + stronger reasoning enable longer task chains</a:t>
            </a:r>
          </a:p>
          <a:p>
            <a:r>
              <a:rPr sz="2400"/>
              <a:t>Teams can parallelize exploration, implementation, and review</a:t>
            </a:r>
          </a:p>
          <a:p>
            <a:r>
              <a:rPr sz="2400"/>
              <a:t>Bottleneck shifted from typing speed to orchestration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Multi-agent Workflow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Multiple specialized agents coordinate on one objective</a:t>
            </a:r>
          </a:p>
          <a:p>
            <a:r>
              <a:rPr sz="2400"/>
              <a:t>Planner decomposes work into parallelizable tasks</a:t>
            </a:r>
          </a:p>
          <a:p>
            <a:r>
              <a:rPr sz="2400"/>
              <a:t>Implementers execute code, tests, and integrations</a:t>
            </a:r>
          </a:p>
          <a:p>
            <a:r>
              <a:rPr sz="2400"/>
              <a:t>Reviewer/critic validates correctness and regression risk</a:t>
            </a:r>
          </a:p>
          <a:p>
            <a:r>
              <a:rPr sz="2400"/>
              <a:t>Human sets priorities, trust boundaries, and final approvals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Inputs: issue statement, repo state, tests, constraints</a:t>
            </a:r>
          </a:p>
          <a:p>
            <a:r>
              <a:rPr sz="2400"/>
              <a:t>Planner agent: task graph + acceptance criteria</a:t>
            </a:r>
          </a:p>
          <a:p>
            <a:r>
              <a:rPr sz="2400"/>
              <a:t>Implementer agents: code changes + local validation</a:t>
            </a:r>
          </a:p>
          <a:p>
            <a:r>
              <a:rPr sz="2400"/>
              <a:t>Reviewer agent: risk scan + quality bar checks</a:t>
            </a:r>
          </a:p>
          <a:p>
            <a:r>
              <a:rPr sz="2400"/>
              <a:t>Operator (human): checkpoint approvals + merge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Landscape (As of Feb 26,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OpenAI Codex CLI: local coding agent with multi-agent + MCP</a:t>
            </a:r>
          </a:p>
          <a:p>
            <a:r>
              <a:rPr sz="2200"/>
              <a:t>GitHub Copilot coding agent: issue-to-PR automation in GitHub</a:t>
            </a:r>
          </a:p>
          <a:p>
            <a:r>
              <a:rPr sz="2200"/>
              <a:t>Google Jules/Jules API: asynchronous coding agent + API automation</a:t>
            </a:r>
          </a:p>
          <a:p>
            <a:r>
              <a:rPr sz="2200"/>
              <a:t>Gemini CLI: open-source terminal agent with MCP extensibility</a:t>
            </a:r>
          </a:p>
          <a:p>
            <a:r>
              <a:rPr sz="2200"/>
              <a:t>Shared denominator: prompts + tools + policy + eval loops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CLI: High-Leverage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Local repo read/edit/run with explicit approval modes</a:t>
            </a:r>
          </a:p>
          <a:p>
            <a:r>
              <a:rPr sz="2200"/>
              <a:t>Non-interactive automation via codex exec workflows</a:t>
            </a:r>
          </a:p>
          <a:p>
            <a:r>
              <a:rPr sz="2200"/>
              <a:t>Experimental multi-agent orchestration with specialized roles</a:t>
            </a:r>
          </a:p>
          <a:p>
            <a:r>
              <a:rPr sz="2200"/>
              <a:t>First-party web search (cached or live modes)</a:t>
            </a:r>
          </a:p>
          <a:p>
            <a:r>
              <a:rPr sz="2200"/>
              <a:t>Built-in MCP support for external tools and context providers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 Coding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Strong fit for issue-driven asynchronous implementation</a:t>
            </a:r>
          </a:p>
          <a:p>
            <a:r>
              <a:rPr sz="2200"/>
              <a:t>Operates directly in GitHub pull request workflows</a:t>
            </a:r>
          </a:p>
          <a:p>
            <a:r>
              <a:rPr sz="2200"/>
              <a:t>Useful for repetitive backlog and maintenance tasks</a:t>
            </a:r>
          </a:p>
          <a:p>
            <a:r>
              <a:rPr sz="2200"/>
              <a:t>Current constraints: preview status and restricted execution model</a:t>
            </a:r>
          </a:p>
          <a:p>
            <a:r>
              <a:rPr sz="2200"/>
              <a:t>Best used as implementer with independent reviewer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Google Jules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/>
              <a:t>Jules targets asynchronous coding tasks on codebases</a:t>
            </a:r>
          </a:p>
          <a:p>
            <a:r>
              <a:rPr sz="2200" dirty="0"/>
              <a:t>Good pattern: dispatch tasks, collect artifacts, review diffs</a:t>
            </a:r>
          </a:p>
          <a:p>
            <a:r>
              <a:rPr sz="2200" dirty="0"/>
              <a:t>Useful for long-running background work</a:t>
            </a:r>
          </a:p>
          <a:p>
            <a:r>
              <a:rPr sz="2200" dirty="0"/>
              <a:t>Needs strict acceptance tests before delegated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CLI in Multi-agent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Open-source terminal agent for coding and scripting workflows</a:t>
            </a:r>
          </a:p>
          <a:p>
            <a:r>
              <a:rPr sz="2200"/>
              <a:t>Useful for rapid implementation and repository exploration</a:t>
            </a:r>
          </a:p>
          <a:p>
            <a:r>
              <a:rPr sz="2200"/>
              <a:t>Extensible with MCP for custom integrations</a:t>
            </a:r>
          </a:p>
          <a:p>
            <a:r>
              <a:rPr sz="2200"/>
              <a:t>Can be paired with Gemini Code Assist for IDE workflows</a:t>
            </a:r>
          </a:p>
          <a:p>
            <a:r>
              <a:rPr sz="2200"/>
              <a:t>Treat outputs as proposals and enforce test/eval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vs Gemini CLI vs Claude: Choice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Codex: strongest when you want strict rule-following (AGENTS.md, skills, explicit constraints).</a:t>
            </a:r>
          </a:p>
          <a:p>
            <a:pPr/>
            <a:r>
              <a:rPr sz="1900"/>
              <a:t>Gemini CLI: often takes more initiative and may deviate if your guardrails are loose.</a:t>
            </a:r>
          </a:p>
          <a:p>
            <a:pPr/>
            <a:r>
              <a:rPr sz="1900"/>
              <a:t>Claude: tends to over-improve and expand scope beyond the exact ask.</a:t>
            </a:r>
          </a:p>
          <a:p>
            <a:pPr/>
            <a:r>
              <a:rPr sz="1900"/>
              <a:t>Operational takeaway: same prompt can produce very different behaviors across agents.</a:t>
            </a:r>
          </a:p>
          <a:p>
            <a:pPr/>
            <a:r>
              <a:rPr sz="1900"/>
              <a:t>Your choice matters: pick the agent by control needs, risk tolerance, and review bandwidth.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GPT-5.2 Pro (Why It Helps)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Best for hardest tasks: deep reasoning, multi-step code edits, and agentic tool-use chains.</a:t>
            </a:r>
          </a:p>
          <a:p>
            <a:pPr/>
            <a:r>
              <a:rPr sz="1900"/>
              <a:t>OpenAI positions GPT-5.2 Pro as the highest-capability GPT-5.2 tier (Responses API only).</a:t>
            </a:r>
          </a:p>
          <a:p>
            <a:pPr/>
            <a:r>
              <a:rPr sz="1900"/>
              <a:t>High leverage in your workflow: architecture decisions, risky refactors, and root-cause analysis.</a:t>
            </a:r>
          </a:p>
          <a:p>
            <a:pPr/>
            <a:r>
              <a:rPr sz="1900"/>
              <a:t>Pattern: use GPT-5.2 Pro for planning/critical reviews; use faster models for implementation loops.</a:t>
            </a:r>
          </a:p>
          <a:p>
            <a:pPr/>
            <a:r>
              <a:rPr sz="1900"/>
              <a:t>When uncertainty and downside risk are high, paying for stronger reasoning is usually net-positive.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Mode: Codex and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Codex: collaboration modes include plan mode (useful for design-first, read-before-write workflows).</a:t>
            </a:r>
          </a:p>
          <a:p>
            <a:pPr/>
            <a:r>
              <a:rPr sz="1900"/>
              <a:t>Gemini CLI: `/plan` switches to read-only planning mode (feature marked experimental).</a:t>
            </a:r>
          </a:p>
          <a:p>
            <a:pPr/>
            <a:r>
              <a:rPr sz="1900"/>
              <a:t>Gemini also supports `--approval-mode=plan` and explicit plan artifact generation before coding.</a:t>
            </a:r>
          </a:p>
          <a:p>
            <a:pPr/>
            <a:r>
              <a:rPr sz="1900"/>
              <a:t>Common benefit: better approach selection, fewer blind edits, cleaner handoff to implementer agents.</a:t>
            </a:r>
          </a:p>
          <a:p>
            <a:pPr/>
            <a:r>
              <a:rPr sz="1900"/>
              <a:t>Note: in Gemini docs, enter-plan tool is unavailable while running in YOLO mode.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Prices Snapshot (US, Feb 26,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OpenAI ChatGPT: Plus $20/mo, Pro $200/mo, Business $25/user/mo (annual) (Enterprise: contact sales).</a:t>
            </a:r>
          </a:p>
          <a:p>
            <a:pPr/>
            <a:r>
              <a:rPr sz="1900"/>
              <a:t>Codex CLI: no separate subscription; included with ChatGPT Plus/Pro/Business/Edu/Enterprise.</a:t>
            </a:r>
          </a:p>
          <a:p>
            <a:pPr/>
            <a:r>
              <a:rPr sz="1900"/>
              <a:t>GitHub Copilot: Pro $10/mo, Pro+ $39/mo, Business $19/user/mo, Enterprise $39/user/mo.</a:t>
            </a:r>
          </a:p>
          <a:p>
            <a:pPr/>
            <a:r>
              <a:rPr sz="1900"/>
              <a:t>Google AI plans: AI Pro $19.99/mo; AI Ultra launched at $249.99/mo in the US (pricing/promos can change).</a:t>
            </a:r>
          </a:p>
          <a:p>
            <a:pPr/>
            <a:r>
              <a:rPr sz="1900"/>
              <a:t>Jules: no separate public subscription on its own page; usage limits are tied to AI Pro/Ultra tiers.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Models: When and Why to Use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Codex supports local OSS providers (`--oss`) via Ollama or LM Studio in config.</a:t>
            </a:r>
          </a:p>
          <a:p>
            <a:pPr/>
            <a:r>
              <a:rPr sz="1900"/>
              <a:t>OpenAI open-weight options: `gpt-oss-20b` (local/specialized) and `gpt-oss-120b` (single H100 class).</a:t>
            </a:r>
          </a:p>
          <a:p>
            <a:pPr/>
            <a:r>
              <a:rPr sz="1900"/>
              <a:t>Cost model shift: lower subscription dependence, higher compute/ops responsibility.</a:t>
            </a:r>
          </a:p>
          <a:p>
            <a:pPr/>
            <a:r>
              <a:rPr sz="1900"/>
              <a:t>Best fit: privacy-sensitive data, air-gapped workflows, custom fine-tunes, deterministic local tooling.</a:t>
            </a:r>
          </a:p>
          <a:p>
            <a:pPr/>
            <a:r>
              <a:rPr sz="1900"/>
              <a:t>Practical strategy: hybrid stack (local models for bulk loops, frontier models for critical reasoning).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Split: Planner vs Implementer vs Reviewer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Planner: defines task DAG, dependencies, and rollback logic</a:t>
            </a:r>
          </a:p>
          <a:p>
            <a:r>
              <a:rPr sz="2400"/>
              <a:t>Implementer: ships smallest safe patches per task node</a:t>
            </a:r>
          </a:p>
          <a:p>
            <a:r>
              <a:rPr sz="2400"/>
              <a:t>Reviewer: adversarial check for bugs, security, regressions</a:t>
            </a:r>
          </a:p>
          <a:p>
            <a:r>
              <a:rPr sz="2400"/>
              <a:t>Release agent (optional): changelog, versioning, deployment notes</a:t>
            </a:r>
          </a:p>
          <a:p>
            <a:r>
              <a:rPr sz="2400"/>
              <a:t>Human remains accountable for risk decisions and shipping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Spawn Tree: Agents, Subagents, Max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Root session starts at depth 0; parent can spawn child agents for parallel tasks.</a:t>
            </a:r>
          </a:p>
          <a:p>
            <a:pPr/>
            <a:r>
              <a:rPr sz="2000"/>
              <a:t>Children can spawn subagents recursively only when depth budget allows.</a:t>
            </a:r>
          </a:p>
          <a:p>
            <a:pPr/>
            <a:r>
              <a:rPr sz="2000"/>
              <a:t>`agents.max_depth` limits nesting: default 1 = root -&gt; child only (no grandchild).</a:t>
            </a:r>
          </a:p>
          <a:p>
            <a:pPr/>
            <a:r>
              <a:rPr sz="2000"/>
              <a:t>`agents.max_threads` limits concurrent open agent threads to avoid overload.</a:t>
            </a:r>
          </a:p>
          <a:p>
            <a:pPr/>
            <a:r>
              <a:rPr sz="2000"/>
              <a:t>Parent orchestrates lifecycle with spawn/send_input/wait/resume/close and merges outputs.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Agent Types and Why This Is Marvelous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Built-in roles: `default`, `worker`, `explorer`, and `monitor` (plus custom roles).</a:t>
            </a:r>
          </a:p>
          <a:p>
            <a:pPr/>
            <a:r>
              <a:rPr sz="2000"/>
              <a:t>`worker` focuses on execution/fixes; `explorer` on read-heavy code discovery; `monitor` on long waits/polling.</a:t>
            </a:r>
          </a:p>
          <a:p>
            <a:pPr/>
            <a:r>
              <a:rPr sz="2000"/>
              <a:t>Each role can have its own model, reasoning effort, sandbox mode, and instructions.</a:t>
            </a:r>
          </a:p>
          <a:p>
            <a:pPr/>
            <a:r>
              <a:rPr sz="2000"/>
              <a:t>Marvelous effect: role specialization + parallelism reduces context rot and increases throughput.</a:t>
            </a:r>
          </a:p>
          <a:p>
            <a:pPr/>
            <a:r>
              <a:rPr sz="2000"/>
              <a:t>You keep control with depth/thread limits and permissions while still moving much faster.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Hardcore Orchestration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1) Set measurable goal and explicit stop conditions</a:t>
            </a:r>
          </a:p>
          <a:p>
            <a:r>
              <a:rPr sz="2400"/>
              <a:t>2) Spawn parallel implementers on isolated branches</a:t>
            </a:r>
          </a:p>
          <a:p>
            <a:r>
              <a:rPr sz="2400"/>
              <a:t>3) Run automated checks after every patch</a:t>
            </a:r>
          </a:p>
          <a:p>
            <a:r>
              <a:rPr sz="2400"/>
              <a:t>4) Reviewer compares alternatives with evidence</a:t>
            </a:r>
          </a:p>
          <a:p>
            <a:r>
              <a:rPr sz="2400"/>
              <a:t>5) Approve based on test artifacts, not model confidence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skills.md / SKILL.md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Package repeatable workflows as skills: instructions + scripts + assets</a:t>
            </a:r>
          </a:p>
          <a:p>
            <a:r>
              <a:rPr sz="2400"/>
              <a:t>Keep skills narrow: setup, test triage, docs, release notes</a:t>
            </a:r>
          </a:p>
          <a:p>
            <a:r>
              <a:rPr sz="2400"/>
              <a:t>Embed deterministic scripts in scripts/ for repeatability</a:t>
            </a:r>
          </a:p>
          <a:p>
            <a:r>
              <a:rPr sz="2400"/>
              <a:t>Use clear descriptions for reliable triggering</a:t>
            </a:r>
          </a:p>
          <a:p>
            <a:r>
              <a:rPr sz="2400"/>
              <a:t>Version and review skills with normal PR discipline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Create a Skill (skill-creator 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1) Define concrete usage examples and identify reusable resources (scripts, references, assets).</a:t>
            </a:r>
          </a:p>
          <a:p>
            <a:pPr/>
            <a:r>
              <a:rPr sz="2000"/>
              <a:t>2) Initialize scaffold with `scripts/init_skill.py &lt;skill-name&gt; --path &lt;dir&gt; --resources ...`.</a:t>
            </a:r>
          </a:p>
          <a:p>
            <a:pPr/>
            <a:r>
              <a:rPr sz="2000"/>
              <a:t>3) Write `SKILL.md`: frontmatter only `name` + `description`; keep body concise and imperative.</a:t>
            </a:r>
          </a:p>
          <a:p>
            <a:pPr/>
            <a:r>
              <a:rPr sz="2000"/>
              <a:t>4) Add deterministic scripts, needed references, and optional assets; generate `agents/openai.yaml` metadata.</a:t>
            </a:r>
          </a:p>
          <a:p>
            <a:pPr/>
            <a:r>
              <a:rPr sz="2000"/>
              <a:t>5) Validate with `scripts/quick_validate.py &lt;skill-folder&gt;`, test scripts, then iterate from real usage feedback.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create-plan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generate a concise, actionable plan when planning is explicitly requested.</a:t>
            </a:r>
          </a:p>
          <a:p>
            <a:pPr/>
            <a:r>
              <a:rPr sz="2000"/>
              <a:t>Core behavior: fast read-only context scan + only blocking follow-up questions.</a:t>
            </a:r>
          </a:p>
          <a:p>
            <a:pPr/>
            <a:r>
              <a:rPr sz="2000"/>
              <a:t>Output contract: #Plan with scope, ordered checklist, and open questions.</a:t>
            </a:r>
          </a:p>
          <a:p>
            <a:pPr/>
            <a:r>
              <a:rPr sz="2000"/>
              <a:t>Why it matters here: aligns planner-agent behavior before parallel execution.</a:t>
            </a:r>
          </a:p>
          <a:p>
            <a:pPr/>
            <a:r>
              <a:rPr sz="2000"/>
              <a:t>Best use: kickoff for complex coding/research tasks with clear acceptance criteria.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github-agents-deploy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triage open GitHub issues/PRs and deploy Copilot/Jules/Codex review strategically.</a:t>
            </a:r>
          </a:p>
          <a:p>
            <a:pPr/>
            <a:r>
              <a:rPr sz="2000"/>
              <a:t>Core behavior: MCP-only GitHub operations, capacity-aware assignment, no duplicate deployment.</a:t>
            </a:r>
          </a:p>
          <a:p>
            <a:pPr/>
            <a:r>
              <a:rPr sz="2000"/>
              <a:t>Safety pattern: draft per-issue/per-PR plan first, execute only after user approval.</a:t>
            </a:r>
          </a:p>
          <a:p>
            <a:pPr/>
            <a:r>
              <a:rPr sz="2000"/>
              <a:t>Why it matters here: operationalizes your issue-to-agent dispatch workflow at scale.</a:t>
            </a:r>
          </a:p>
          <a:p>
            <a:pPr/>
            <a:r>
              <a:rPr sz="2000"/>
              <a:t>Best use: weekly triage to keep agent workloads balanced and visible.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openai-docs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fetch current OpenAI guidance from official docs with citations.</a:t>
            </a:r>
          </a:p>
          <a:p>
            <a:pPr/>
            <a:r>
              <a:rPr sz="2000"/>
              <a:t>Core behavior: search + fetch via OpenAI Docs MCP before any web fallback.</a:t>
            </a:r>
          </a:p>
          <a:p>
            <a:pPr/>
            <a:r>
              <a:rPr sz="2000"/>
              <a:t>Output quality: source-grounded API/tooling guidance with reduced speculation risk.</a:t>
            </a:r>
          </a:p>
          <a:p>
            <a:pPr/>
            <a:r>
              <a:rPr sz="2000"/>
              <a:t>Why it matters here: keeps agent architecture choices aligned with latest platform reality.</a:t>
            </a:r>
          </a:p>
          <a:p>
            <a:pPr/>
            <a:r>
              <a:rPr sz="2000"/>
              <a:t>Best use: model/tool capability checks before implementing new workflow patterns.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suggest-improve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deep codebase health review with ranked, actionable improvements (no new features).</a:t>
            </a:r>
          </a:p>
          <a:p>
            <a:pPr/>
            <a:r>
              <a:rPr sz="2000"/>
              <a:t>Core behavior: evidence-based analysis and up to 10 prioritized suggestions (★ to ★★★).</a:t>
            </a:r>
          </a:p>
          <a:p>
            <a:pPr/>
            <a:r>
              <a:rPr sz="2000"/>
              <a:t>Output contract: why/evidence, what to change, where to change, and how to validate.</a:t>
            </a:r>
          </a:p>
          <a:p>
            <a:pPr/>
            <a:r>
              <a:rPr sz="2000"/>
              <a:t>Why it matters here: acts as reviewer/critic mode for technical debt and reliability.</a:t>
            </a:r>
          </a:p>
          <a:p>
            <a:pPr/>
            <a:r>
              <a:rPr sz="2000"/>
              <a:t>Best use: post-sprint optimization and hardening before broad agent rollout.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automate real browser flows from terminal for testing and debugging.</a:t>
            </a:r>
          </a:p>
          <a:p>
            <a:pPr/>
            <a:r>
              <a:rPr sz="2000"/>
              <a:t>Core behavior: open -&gt; snapshot -&gt; interact by refs -&gt; re-snapshot -&gt; capture artifacts.</a:t>
            </a:r>
          </a:p>
          <a:p>
            <a:pPr/>
            <a:r>
              <a:rPr sz="2000"/>
              <a:t>Operational guardrail: CLI-first automation with reproducible interaction loops.</a:t>
            </a:r>
          </a:p>
          <a:p>
            <a:pPr/>
            <a:r>
              <a:rPr sz="2000"/>
              <a:t>Why it matters here: closes the test loop for UI paths that coding agents modify.</a:t>
            </a:r>
          </a:p>
          <a:p>
            <a:pPr/>
            <a:r>
              <a:rPr sz="2000"/>
              <a:t>Best use: regression checks, bug repros, and evidence capture in agent pipelines.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literature-review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systematic literature review across multiple academic databases.</a:t>
            </a:r>
          </a:p>
          <a:p>
            <a:pPr/>
            <a:r>
              <a:rPr sz="2000"/>
              <a:t>Core behavior: scoped search strategy, dedup/screening, thematic synthesis, verified citations.</a:t>
            </a:r>
          </a:p>
          <a:p>
            <a:pPr/>
            <a:r>
              <a:rPr sz="2000"/>
              <a:t>Deliverables: publication-grade markdown/PDF outputs with reproducible search traces.</a:t>
            </a:r>
          </a:p>
          <a:p>
            <a:pPr/>
            <a:r>
              <a:rPr sz="2000"/>
              <a:t>Why it matters here: enables agent-assisted research discovery for issue ideation.</a:t>
            </a:r>
          </a:p>
          <a:p>
            <a:pPr/>
            <a:r>
              <a:rPr sz="2000"/>
              <a:t>Best use: state-of-the-art surveys before launching new experiment or implementation tracks.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scientific-report-editor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draft and quality-gate scientific/technical reports in publication-grade style.</a:t>
            </a:r>
          </a:p>
          <a:p>
            <a:pPr/>
            <a:r>
              <a:rPr sz="2000"/>
              <a:t>Core behavior: multi-pass workflow (draft, micro-reviews, controlled rewrite, final review).</a:t>
            </a:r>
          </a:p>
          <a:p>
            <a:pPr/>
            <a:r>
              <a:rPr sz="2000"/>
              <a:t>Quality controls: math-aware formatting, evidence-linked claims, layout validation.</a:t>
            </a:r>
          </a:p>
          <a:p>
            <a:pPr/>
            <a:r>
              <a:rPr sz="2000"/>
              <a:t>Why it matters here: turns agent outputs into coherent, defensible research communication.</a:t>
            </a:r>
          </a:p>
          <a:p>
            <a:pPr/>
            <a:r>
              <a:rPr sz="2000"/>
              <a:t>Best use: transform experiment logs and notes into clean reports and summaries.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Spotlight: pr-merger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Purpose: review, fix, validate, and merge PRs end-to-end with tight scope control.</a:t>
            </a:r>
          </a:p>
          <a:p>
            <a:pPr/>
            <a:r>
              <a:rPr sz="2000"/>
              <a:t>Core behavior: inspect PR signals, patch minimally, run tests, comment rationale, merge/close.</a:t>
            </a:r>
          </a:p>
          <a:p>
            <a:pPr/>
            <a:r>
              <a:rPr sz="2000"/>
              <a:t>Workflow discipline: keep main synced, verify fixes, and clean branch state after merge.</a:t>
            </a:r>
          </a:p>
          <a:p>
            <a:pPr/>
            <a:r>
              <a:rPr sz="2000"/>
              <a:t>Why it matters here: final integration step for work produced by multiple agents.</a:t>
            </a:r>
          </a:p>
          <a:p>
            <a:pPr/>
            <a:r>
              <a:rPr sz="2000"/>
              <a:t>Best use: converging parallel agent branches into safe, merge-ready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AGENTS.md as Behavioral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Encodes persistent repo rules: build/test/style/review expectations</a:t>
            </a:r>
          </a:p>
          <a:p>
            <a:r>
              <a:rPr sz="2400"/>
              <a:t>Supports layered precedence: global -&gt; repo -&gt; subdirectory</a:t>
            </a:r>
          </a:p>
          <a:p>
            <a:r>
              <a:rPr sz="2400"/>
              <a:t>Turn repeated reviewer feedback into durable instructions</a:t>
            </a:r>
          </a:p>
          <a:p>
            <a:r>
              <a:rPr sz="2400"/>
              <a:t>Pair with linters and pre-commit hooks for enforcement</a:t>
            </a:r>
          </a:p>
          <a:p>
            <a:r>
              <a:rPr sz="2400"/>
              <a:t>Treat AGENTS.md as living policy, not static docs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Basics: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MCP standardizes model access to tools and context</a:t>
            </a:r>
          </a:p>
          <a:p>
            <a:r>
              <a:rPr sz="2200"/>
              <a:t>Core primitives: tools, resources, prompts</a:t>
            </a:r>
          </a:p>
          <a:p>
            <a:r>
              <a:rPr sz="2200"/>
              <a:t>Transports: local STDIO and remote HTTP</a:t>
            </a:r>
          </a:p>
          <a:p>
            <a:r>
              <a:rPr sz="2200"/>
              <a:t>Decouples orchestration logic from vendor-specific integrations</a:t>
            </a:r>
          </a:p>
          <a:p>
            <a:r>
              <a:rPr sz="2200"/>
              <a:t>Enables reusable agent workflows across different hosts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in Practice: Trust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Connect only to trusted and verified MCP servers</a:t>
            </a:r>
          </a:p>
          <a:p>
            <a:r>
              <a:rPr sz="2200"/>
              <a:t>Minimize tool scopes; separate read-only and mutating actions</a:t>
            </a:r>
          </a:p>
          <a:p>
            <a:r>
              <a:rPr sz="2200"/>
              <a:t>Require explicit approvals for high-impact tool calls</a:t>
            </a:r>
          </a:p>
          <a:p>
            <a:r>
              <a:rPr sz="2200"/>
              <a:t>Apply OAuth/token hygiene and audience validation</a:t>
            </a:r>
          </a:p>
          <a:p>
            <a:r>
              <a:rPr sz="2200"/>
              <a:t>Log every tool call for auditability and incident response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Walkthrough: Blank Repo to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Task: research pipeline from raw data to baseline model</a:t>
            </a:r>
          </a:p>
          <a:p>
            <a:r>
              <a:rPr sz="2400"/>
              <a:t>Planner writes milestones and acceptance criteria</a:t>
            </a:r>
          </a:p>
          <a:p>
            <a:r>
              <a:rPr sz="2400"/>
              <a:t>Implementers split ingestion, modeling, evaluation, docs</a:t>
            </a:r>
          </a:p>
          <a:p>
            <a:r>
              <a:rPr sz="2400"/>
              <a:t>Reviewer runs risk checklist and regression pass</a:t>
            </a:r>
          </a:p>
          <a:p>
            <a:r>
              <a:rPr sz="2400"/>
              <a:t>Output: tested PoC branch with metrics and 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Cesar's Real Workflow (Control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100"/>
              <a:t>Codex CLI is the control plane: parent/subagent orchestration at explicit depth levels.</a:t>
            </a:r>
          </a:p>
          <a:p>
            <a:pPr/>
            <a:r>
              <a:rPr sz="2100"/>
              <a:t>Default operating mode is `--yolo` to maximize autonomy, speed, and exploration breadth.</a:t>
            </a:r>
          </a:p>
          <a:p>
            <a:pPr/>
            <a:r>
              <a:rPr sz="2100"/>
              <a:t>Codex git skills convert lateral ideas and research asks directly into GitHub issues.</a:t>
            </a:r>
          </a:p>
          <a:p>
            <a:pPr/>
            <a:r>
              <a:rPr sz="2100"/>
              <a:t>Dispatch in GitHub: tag for Jules or assign to Copilot, often with parallel approaches.</a:t>
            </a:r>
          </a:p>
          <a:p>
            <a:pPr/>
            <a:r>
              <a:rPr sz="2100"/>
              <a:t>Gemini CLI critiques outputs and files difficulty-tagged bugs; Codex /review is the final gate.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 Loop with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Reproduce: isolate failing test and create minimal repro</a:t>
            </a:r>
          </a:p>
          <a:p>
            <a:r>
              <a:rPr sz="2400"/>
              <a:t>Diagnose: trace logs, data flow, and dependency graph</a:t>
            </a:r>
          </a:p>
          <a:p>
            <a:r>
              <a:rPr sz="2400"/>
              <a:t>Patch: propose fix with backward compatibility checks</a:t>
            </a:r>
          </a:p>
          <a:p>
            <a:r>
              <a:rPr sz="2400"/>
              <a:t>Verify: rerun targeted and full suite tests</a:t>
            </a:r>
          </a:p>
          <a:p>
            <a:r>
              <a:rPr sz="2400"/>
              <a:t>Document: root cause, fix rationale, and prevention steps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Workflows with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Generate edge-case tests and mutation-style checks</a:t>
            </a:r>
          </a:p>
          <a:p>
            <a:r>
              <a:rPr sz="2200"/>
              <a:t>Triage flaky tests with repeated run variance reports</a:t>
            </a:r>
          </a:p>
          <a:p>
            <a:r>
              <a:rPr sz="2200"/>
              <a:t>Use CI autofix loops for lint/build breakages</a:t>
            </a:r>
          </a:p>
          <a:p>
            <a:r>
              <a:rPr sz="2200"/>
              <a:t>Run adversarial review prompts for correctness/security</a:t>
            </a:r>
          </a:p>
          <a:p>
            <a:r>
              <a:rPr sz="2200"/>
              <a:t>Track regression rate per agent and task class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Writing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Parallel literature triage and synthesis by topic</a:t>
            </a:r>
          </a:p>
          <a:p>
            <a:r>
              <a:rPr sz="2200"/>
              <a:t>Experiment design support for ablations and controls</a:t>
            </a:r>
          </a:p>
          <a:p>
            <a:r>
              <a:rPr sz="2200"/>
              <a:t>Auto-build reproducibility artifacts (env, seeds, scripts)</a:t>
            </a:r>
          </a:p>
          <a:p>
            <a:r>
              <a:rPr sz="2200"/>
              <a:t>Writing loop: draft -&gt; critique -&gt; revise -&gt; citation audit</a:t>
            </a:r>
          </a:p>
          <a:p>
            <a:r>
              <a:rPr sz="2200"/>
              <a:t>Prism (OpenAI, Jan 27 2026): AI-native LaTeX scientific workspace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Robotics: Real World as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100"/>
              <a:t>Any system connected to a computer can be wrapped as an agent tool interface.</a:t>
            </a:r>
          </a:p>
          <a:p>
            <a:pPr/>
            <a:r>
              <a:rPr sz="2100"/>
              <a:t>With GPT-5.3-Codex orchestration, cameras/sensors can feed real-world context into workflows.</a:t>
            </a:r>
          </a:p>
          <a:p>
            <a:pPr/>
            <a:r>
              <a:rPr sz="2100"/>
              <a:t>Agents can run your own scripts as tools for control, logging, and data quality checks.</a:t>
            </a:r>
          </a:p>
          <a:p>
            <a:pPr/>
            <a:r>
              <a:rPr sz="2100"/>
              <a:t>Real-world data collection can be agent-assisted with safety gates and human supervision.</a:t>
            </a:r>
          </a:p>
          <a:p>
            <a:pPr/>
            <a:r>
              <a:rPr sz="2100"/>
              <a:t>Pattern: scriptable interface -&gt; MCP/tool wrapper -&gt; agent policy -&gt; monitored execution.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Risk, High Reward in Robot Agent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100"/>
              <a:t>Reward: faster robotics iteration, larger design search, and continuous real-world data loops.</a:t>
            </a:r>
          </a:p>
          <a:p>
            <a:pPr/>
            <a:r>
              <a:rPr sz="2100"/>
              <a:t>Operating doctrine: run in `--yolo` mode by default for maximum autonomous action space.</a:t>
            </a:r>
          </a:p>
          <a:p>
            <a:pPr/>
            <a:r>
              <a:rPr sz="2100"/>
              <a:t>Risk: unsafe actuation, sensor misreads, and over-trusting autonomous decisions.</a:t>
            </a:r>
          </a:p>
          <a:p>
            <a:pPr/>
            <a:r>
              <a:rPr sz="2100"/>
              <a:t>Counterbalance controls: kill-switches, hard interrupts, telemetry, and post-run forensics.</a:t>
            </a:r>
          </a:p>
          <a:p>
            <a:pPr/>
            <a:r>
              <a:rPr sz="2100"/>
              <a:t>Core metrics: incident/near-miss rate, rollback frequency, and data quality drift.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Ralph Wiggum Technique (Actual Definition)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Core loop: run the same prompt repeatedly (`while :; do cat PROMPT.md | agent; done`) until completion signal.</a:t>
            </a:r>
          </a:p>
          <a:p>
            <a:pPr/>
            <a:r>
              <a:rPr sz="2000"/>
              <a:t>State is externalized to files + git, not chat history; each iteration can start with a fresh context window.</a:t>
            </a:r>
          </a:p>
          <a:p>
            <a:pPr/>
            <a:r>
              <a:rPr sz="2000"/>
              <a:t>Operational rule: one concrete item per loop to reduce context pollution and drift.</a:t>
            </a:r>
          </a:p>
          <a:p>
            <a:pPr/>
            <a:r>
              <a:rPr sz="2000"/>
              <a:t>Add backpressure gates (tests, type checks, linters, scanners) so bad code is automatically rejected.</a:t>
            </a:r>
          </a:p>
          <a:p>
            <a:pPr/>
            <a:r>
              <a:rPr sz="2000"/>
              <a:t>Tune iteratively with explicit guardrail instructions (“signs”) when failure patterns appear.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Plan and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Week 1: AGENTS.md baseline, skill templates, MCP policy</a:t>
            </a:r>
          </a:p>
          <a:p>
            <a:r>
              <a:rPr sz="2400"/>
              <a:t>Week 2: pilot one workflow (bugfix or experiment setup)</a:t>
            </a:r>
          </a:p>
          <a:p>
            <a:r>
              <a:rPr sz="2400"/>
              <a:t>Weeks 3-4: reviewer agent, eval metrics, CI integration</a:t>
            </a:r>
          </a:p>
          <a:p>
            <a:r>
              <a:rPr sz="2400"/>
              <a:t>Success = faster cycle time, fewer escapes, better docs</a:t>
            </a:r>
          </a:p>
          <a:p>
            <a:r>
              <a:rPr sz="2400"/>
              <a:t>Q&amp;A now | Lunch at 12:00 | Tool status validated on Feb 26,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1253</Words>
  <Application>Microsoft Macintosh PowerPoint</Application>
  <PresentationFormat>On-screen Show (4:3)</PresentationFormat>
  <Paragraphs>147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Multi-agentic Workflows</vt:lpstr>
      <vt:lpstr>Event Details and Scope</vt:lpstr>
      <vt:lpstr>Agenda (60 Minutes)</vt:lpstr>
      <vt:lpstr>Why 2026 Is Different</vt:lpstr>
      <vt:lpstr>What Multi-agent Workflow Means</vt:lpstr>
      <vt:lpstr>Reference Architecture</vt:lpstr>
      <vt:lpstr>Tool Landscape (As of Feb 26, 2026)</vt:lpstr>
      <vt:lpstr>Codex CLI: High-Leverage Features</vt:lpstr>
      <vt:lpstr>GitHub Copilot Coding Agent</vt:lpstr>
      <vt:lpstr>Google Jules</vt:lpstr>
      <vt:lpstr>Gemini CLI in Multi-agent Stacks</vt:lpstr>
      <vt:lpstr>Role Split: Planner vs Implementer vs Reviewer</vt:lpstr>
      <vt:lpstr>Hardcore Orchestration Pattern</vt:lpstr>
      <vt:lpstr>skills.md / SKILL.md Patterns</vt:lpstr>
      <vt:lpstr>AGENTS.md as Behavioral Control Plane</vt:lpstr>
      <vt:lpstr>MCP Basics: Why It Matters</vt:lpstr>
      <vt:lpstr>MCP in Practice: Trust and Safety</vt:lpstr>
      <vt:lpstr>Live Walkthrough: Blank Repo to PoC</vt:lpstr>
      <vt:lpstr>Cesar's Real Workflow (Control Loop)</vt:lpstr>
      <vt:lpstr>Debug Loop with Agents</vt:lpstr>
      <vt:lpstr>Testing Workflows with Agents</vt:lpstr>
      <vt:lpstr>Research and Writing Workflows</vt:lpstr>
      <vt:lpstr>Experimental Robotics Work</vt:lpstr>
      <vt:lpstr>High Risk, High Reward in Robot Agent Systems</vt:lpstr>
      <vt:lpstr>Adoption Plan and 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Cesar Contreras (PhD Dept Metallurgy + Matls FT)</cp:lastModifiedBy>
  <cp:revision>2</cp:revision>
  <dcterms:created xsi:type="dcterms:W3CDTF">2013-01-27T09:14:16Z</dcterms:created>
  <dcterms:modified xsi:type="dcterms:W3CDTF">2026-02-26T19:07:46Z</dcterms:modified>
  <cp:category/>
</cp:coreProperties>
</file>